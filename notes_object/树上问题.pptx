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9" r:id="rId29"/>
    <p:sldId id="288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300" r:id="rId40"/>
    <p:sldId id="299" r:id="rId41"/>
    <p:sldId id="283" r:id="rId42"/>
    <p:sldId id="284" r:id="rId43"/>
    <p:sldId id="285" r:id="rId44"/>
    <p:sldId id="286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2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3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4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.xml"/><Relationship Id="rId3" Type="http://schemas.openxmlformats.org/officeDocument/2006/relationships/image" Target="../media/image5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9.xml"/><Relationship Id="rId3" Type="http://schemas.openxmlformats.org/officeDocument/2006/relationships/image" Target="../media/image6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Relationship Id="rId3" Type="http://schemas.openxmlformats.org/officeDocument/2006/relationships/image" Target="../media/image7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7.xml"/><Relationship Id="rId3" Type="http://schemas.openxmlformats.org/officeDocument/2006/relationships/image" Target="../media/image8.pn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0.xml"/><Relationship Id="rId3" Type="http://schemas.openxmlformats.org/officeDocument/2006/relationships/image" Target="../media/image9.pn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3.xml"/><Relationship Id="rId3" Type="http://schemas.openxmlformats.org/officeDocument/2006/relationships/image" Target="../media/image10.png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4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9.xml"/><Relationship Id="rId3" Type="http://schemas.openxmlformats.org/officeDocument/2006/relationships/image" Target="../media/image15.png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5.xml"/><Relationship Id="rId3" Type="http://schemas.openxmlformats.org/officeDocument/2006/relationships/image" Target="../media/image16.png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8.xml"/><Relationship Id="rId3" Type="http://schemas.openxmlformats.org/officeDocument/2006/relationships/image" Target="../media/image17.png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4.xml"/><Relationship Id="rId3" Type="http://schemas.openxmlformats.org/officeDocument/2006/relationships/image" Target="../media/image18.png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0.xml"/><Relationship Id="rId3" Type="http://schemas.openxmlformats.org/officeDocument/2006/relationships/image" Target="../media/image19.png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3.xml"/><Relationship Id="rId3" Type="http://schemas.openxmlformats.org/officeDocument/2006/relationships/image" Target="../media/image20.png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6.xml"/><Relationship Id="rId3" Type="http://schemas.openxmlformats.org/officeDocument/2006/relationships/image" Target="../media/image21.png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9.xml"/><Relationship Id="rId3" Type="http://schemas.openxmlformats.org/officeDocument/2006/relationships/image" Target="../media/image22.png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2.xml"/><Relationship Id="rId3" Type="http://schemas.openxmlformats.org/officeDocument/2006/relationships/image" Target="../media/image23.png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Relationship Id="rId3" Type="http://schemas.openxmlformats.org/officeDocument/2006/relationships/image" Target="../media/image24.png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树上问题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dengtingyu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再</a:t>
            </a:r>
            <a:r>
              <a:rPr lang="zh-CN" altLang="en-US"/>
              <a:t>谈最近公共</a:t>
            </a:r>
            <a:r>
              <a:rPr lang="zh-CN" altLang="en-US"/>
              <a:t>祖先</a:t>
            </a:r>
            <a:endParaRPr lang="zh-CN" altLang="en-US"/>
          </a:p>
          <a:p>
            <a:r>
              <a:rPr lang="zh-CN" altLang="en-US"/>
              <a:t>树上</a:t>
            </a:r>
            <a:r>
              <a:rPr lang="en-US" altLang="zh-CN"/>
              <a:t>dp</a:t>
            </a:r>
            <a:r>
              <a:rPr lang="zh-CN" altLang="en-US"/>
              <a:t>和</a:t>
            </a:r>
            <a:r>
              <a:rPr lang="zh-CN" altLang="en-US"/>
              <a:t>换根</a:t>
            </a:r>
            <a:endParaRPr lang="zh-CN" altLang="en-US"/>
          </a:p>
          <a:p>
            <a:r>
              <a:rPr lang="zh-CN" altLang="en-US">
                <a:sym typeface="+mn-ea"/>
              </a:rPr>
              <a:t>生成树问题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树上</a:t>
            </a:r>
            <a:r>
              <a:rPr lang="zh-CN" altLang="en-US">
                <a:sym typeface="+mn-ea"/>
              </a:rPr>
              <a:t>权值维护</a:t>
            </a:r>
            <a:endParaRPr lang="zh-CN" altLang="en-US"/>
          </a:p>
          <a:p>
            <a:r>
              <a:rPr lang="zh-CN" altLang="en-US"/>
              <a:t>虚树</a:t>
            </a:r>
            <a:r>
              <a:rPr lang="zh-CN" altLang="en-US"/>
              <a:t>简述</a:t>
            </a:r>
            <a:endParaRPr lang="zh-CN" altLang="en-US"/>
          </a:p>
          <a:p>
            <a:r>
              <a:rPr lang="zh-CN" altLang="en-US"/>
              <a:t>点分</a:t>
            </a:r>
            <a:r>
              <a:rPr lang="zh-CN" altLang="en-US"/>
              <a:t>治</a:t>
            </a:r>
            <a:endParaRPr lang="en-US" altLang="zh-CN"/>
          </a:p>
          <a:p>
            <a:r>
              <a:rPr lang="zh-CN" altLang="en-US"/>
              <a:t>树的计数问题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再谈最近公共祖先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P3379 </a:t>
            </a:r>
            <a:r>
              <a:rPr lang="zh-CN" altLang="en-US"/>
              <a:t>【模板】最近公共祖先（</a:t>
            </a:r>
            <a:r>
              <a:rPr lang="en-US" altLang="zh-CN"/>
              <a:t>LCA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我们来回顾一下求最近公共祖先的</a:t>
            </a:r>
            <a:r>
              <a:rPr lang="zh-CN" altLang="en-US"/>
              <a:t>方法。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/>
              <a:t>倍增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欧拉序</a:t>
            </a:r>
            <a:r>
              <a:rPr lang="en-US" altLang="zh-CN"/>
              <a:t>+rmq</a:t>
            </a:r>
            <a:r>
              <a:rPr lang="zh-CN" altLang="en-US"/>
              <a:t>序列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dfs</a:t>
            </a:r>
            <a:r>
              <a:rPr lang="zh-CN" altLang="en-US"/>
              <a:t>序</a:t>
            </a:r>
            <a:r>
              <a:rPr lang="en-US" altLang="zh-CN"/>
              <a:t>+</a:t>
            </a:r>
            <a:r>
              <a:rPr lang="en-US" altLang="zh-CN"/>
              <a:t>rmq https://www.cnblogs.com/alex-wei/p/DFN_LCA.html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</a:t>
            </a:r>
            <a:r>
              <a:rPr lang="zh-CN" altLang="en-US"/>
              <a:t>树剖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4.lct</a:t>
            </a:r>
            <a:r>
              <a:rPr lang="zh-CN" altLang="en-US"/>
              <a:t>上的最近公共</a:t>
            </a:r>
            <a:r>
              <a:rPr lang="zh-CN" altLang="en-US"/>
              <a:t>祖先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换根和</a:t>
            </a:r>
            <a:r>
              <a:rPr lang="en-US" altLang="zh-CN"/>
              <a:t>lca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P6374 </a:t>
            </a:r>
            <a:r>
              <a:rPr lang="zh-CN" altLang="en-US">
                <a:sym typeface="+mn-ea"/>
              </a:rPr>
              <a:t>「</a:t>
            </a:r>
            <a:r>
              <a:rPr lang="en-US" altLang="zh-CN">
                <a:sym typeface="+mn-ea"/>
              </a:rPr>
              <a:t>StOI-1</a:t>
            </a:r>
            <a:r>
              <a:rPr lang="zh-CN" altLang="en-US">
                <a:sym typeface="+mn-ea"/>
              </a:rPr>
              <a:t>」树上询问</a:t>
            </a:r>
            <a:endParaRPr lang="zh-CN" altLang="en-US"/>
          </a:p>
          <a:p>
            <a:r>
              <a:rPr lang="zh-CN" altLang="en-US"/>
              <a:t>给定一棵</a:t>
            </a:r>
            <a:r>
              <a:rPr lang="en-US" altLang="zh-CN"/>
              <a:t> n </a:t>
            </a:r>
            <a:r>
              <a:rPr lang="zh-CN" altLang="en-US"/>
              <a:t>个点的无根树，有</a:t>
            </a:r>
            <a:r>
              <a:rPr lang="en-US" altLang="zh-CN"/>
              <a:t> q </a:t>
            </a:r>
            <a:r>
              <a:rPr lang="zh-CN" altLang="en-US"/>
              <a:t>次询问。</a:t>
            </a:r>
            <a:endParaRPr lang="en-US" altLang="zh-CN"/>
          </a:p>
          <a:p>
            <a:r>
              <a:rPr lang="zh-CN" altLang="en-US"/>
              <a:t>每次询问给一个参数三元组</a:t>
            </a:r>
            <a:r>
              <a:rPr lang="en-US" altLang="zh-CN"/>
              <a:t> (a,b,c) </a:t>
            </a:r>
            <a:r>
              <a:rPr lang="zh-CN" altLang="en-US"/>
              <a:t>，求有多少个</a:t>
            </a:r>
            <a:r>
              <a:rPr lang="en-US" altLang="zh-CN"/>
              <a:t> i </a:t>
            </a:r>
            <a:r>
              <a:rPr lang="zh-CN" altLang="en-US"/>
              <a:t>满足这棵树在以</a:t>
            </a:r>
            <a:r>
              <a:rPr lang="en-US" altLang="zh-CN"/>
              <a:t> i </a:t>
            </a:r>
            <a:r>
              <a:rPr lang="zh-CN" altLang="en-US"/>
              <a:t>为根的情况下</a:t>
            </a:r>
            <a:r>
              <a:rPr lang="en-US" altLang="zh-CN"/>
              <a:t> a </a:t>
            </a:r>
            <a:r>
              <a:rPr lang="zh-CN" altLang="en-US"/>
              <a:t>和</a:t>
            </a:r>
            <a:r>
              <a:rPr lang="en-US" altLang="zh-CN"/>
              <a:t> b </a:t>
            </a:r>
            <a:r>
              <a:rPr lang="zh-CN" altLang="en-US"/>
              <a:t>的</a:t>
            </a:r>
            <a:r>
              <a:rPr lang="en-US" altLang="zh-CN"/>
              <a:t> LCA </a:t>
            </a:r>
            <a:r>
              <a:rPr lang="zh-CN" altLang="en-US"/>
              <a:t>为</a:t>
            </a:r>
            <a:r>
              <a:rPr lang="en-US" altLang="zh-CN"/>
              <a:t> c 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lang="en-US" altLang="zh-CN" sz="1600" b="1" i="0">
                <a:solidFill>
                  <a:srgbClr val="FFFFFF"/>
                </a:solidFill>
                <a:latin typeface="-apple-system"/>
                <a:ea typeface="-apple-system"/>
              </a:rPr>
              <a:t>P6374 </a:t>
            </a:r>
            <a:r>
              <a:rPr lang="zh-CN" altLang="en-US" sz="1600" b="1" i="0">
                <a:solidFill>
                  <a:srgbClr val="FFFFFF"/>
                </a:solidFill>
                <a:latin typeface="-apple-system"/>
                <a:ea typeface="-apple-system"/>
              </a:rPr>
              <a:t>「</a:t>
            </a:r>
            <a:r>
              <a:rPr lang="en-US" altLang="zh-CN" sz="1600" b="1" i="0">
                <a:solidFill>
                  <a:srgbClr val="FFFFFF"/>
                </a:solidFill>
                <a:latin typeface="-apple-system"/>
                <a:ea typeface="-apple-system"/>
              </a:rPr>
              <a:t>StOI-1</a:t>
            </a:r>
            <a:r>
              <a:rPr lang="zh-CN" altLang="en-US" sz="1600" b="1" i="0">
                <a:solidFill>
                  <a:srgbClr val="FFFFFF"/>
                </a:solidFill>
                <a:latin typeface="-apple-system"/>
                <a:ea typeface="-apple-system"/>
              </a:rPr>
              <a:t>」树上询问</a:t>
            </a:r>
            <a:endParaRPr lang="zh-CN" altLang="en-US" sz="1600" b="1" i="0">
              <a:solidFill>
                <a:srgbClr val="FFFFFF"/>
              </a:solidFill>
              <a:latin typeface="-apple-system"/>
              <a:ea typeface="-apple-system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P6374 </a:t>
            </a:r>
            <a:r>
              <a:rPr lang="zh-CN" altLang="en-US">
                <a:sym typeface="+mn-ea"/>
              </a:rPr>
              <a:t>「</a:t>
            </a:r>
            <a:r>
              <a:rPr lang="en-US" altLang="zh-CN">
                <a:sym typeface="+mn-ea"/>
              </a:rPr>
              <a:t>StOI-1</a:t>
            </a:r>
            <a:r>
              <a:rPr lang="zh-CN" altLang="en-US">
                <a:sym typeface="+mn-ea"/>
              </a:rPr>
              <a:t>」树上询问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在路径上时：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1.z</a:t>
            </a:r>
            <a:r>
              <a:rPr lang="zh-CN" altLang="en-US"/>
              <a:t>是</a:t>
            </a:r>
            <a:r>
              <a:rPr lang="en-US" altLang="zh-CN"/>
              <a:t>(x,y)</a:t>
            </a:r>
            <a:r>
              <a:rPr lang="zh-CN" altLang="en-US"/>
              <a:t>的</a:t>
            </a:r>
            <a:r>
              <a:rPr lang="en-US" altLang="zh-CN"/>
              <a:t>LCA=&gt; </a:t>
            </a:r>
            <a:r>
              <a:rPr lang="zh-CN" altLang="en-US"/>
              <a:t>去掉</a:t>
            </a:r>
            <a:r>
              <a:rPr lang="en-US" altLang="zh-CN"/>
              <a:t>z</a:t>
            </a:r>
            <a:r>
              <a:rPr lang="zh-CN" altLang="en-US"/>
              <a:t>的</a:t>
            </a:r>
            <a:r>
              <a:rPr lang="en-US" altLang="zh-CN"/>
              <a:t>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子树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2.z</a:t>
            </a:r>
            <a:r>
              <a:rPr lang="zh-CN" altLang="en-US"/>
              <a:t>在</a:t>
            </a:r>
            <a:r>
              <a:rPr lang="en-US" altLang="zh-CN"/>
              <a:t>x−&gt;LCA</a:t>
            </a:r>
            <a:r>
              <a:rPr lang="zh-CN" altLang="en-US"/>
              <a:t>的路径上</a:t>
            </a:r>
            <a:r>
              <a:rPr lang="en-US" altLang="zh-CN"/>
              <a:t>=&gt; z−&gt;x</a:t>
            </a:r>
            <a:r>
              <a:rPr lang="zh-CN" altLang="en-US"/>
              <a:t>和</a:t>
            </a:r>
            <a:r>
              <a:rPr lang="en-US" altLang="zh-CN"/>
              <a:t>z−&gt;father(z)</a:t>
            </a:r>
            <a:r>
              <a:rPr lang="zh-CN" altLang="en-US"/>
              <a:t>的子节点在路径上</a:t>
            </a:r>
            <a:r>
              <a:rPr lang="en-US" altLang="zh-CN"/>
              <a:t>,</a:t>
            </a:r>
            <a:r>
              <a:rPr lang="zh-CN" altLang="en-US"/>
              <a:t>去掉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3.z</a:t>
            </a:r>
            <a:r>
              <a:rPr lang="zh-CN" altLang="en-US"/>
              <a:t>在</a:t>
            </a:r>
            <a:r>
              <a:rPr lang="en-US" altLang="zh-CN"/>
              <a:t>LCA−&gt;y</a:t>
            </a:r>
            <a:r>
              <a:rPr lang="zh-CN" altLang="en-US"/>
              <a:t>的路径上</a:t>
            </a:r>
            <a:r>
              <a:rPr lang="en-US" altLang="zh-CN"/>
              <a:t>=&gt; z−&gt;y</a:t>
            </a:r>
            <a:r>
              <a:rPr lang="zh-CN" altLang="en-US"/>
              <a:t>和</a:t>
            </a:r>
            <a:r>
              <a:rPr lang="en-US" altLang="zh-CN"/>
              <a:t>z−&gt;father(z)</a:t>
            </a:r>
            <a:r>
              <a:rPr lang="zh-CN" altLang="en-US"/>
              <a:t>的子节点在路径上</a:t>
            </a:r>
            <a:r>
              <a:rPr lang="en-US" altLang="zh-CN"/>
              <a:t>,</a:t>
            </a:r>
            <a:r>
              <a:rPr lang="zh-CN" altLang="en-US"/>
              <a:t>去掉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总的讲，就是去掉</a:t>
            </a:r>
            <a:r>
              <a:rPr lang="en-US" altLang="zh-CN"/>
              <a:t>z-&gt;x,z-&gt;y</a:t>
            </a:r>
            <a:r>
              <a:rPr lang="zh-CN" altLang="en-US"/>
              <a:t>两个</a:t>
            </a:r>
            <a:r>
              <a:rPr lang="zh-CN" altLang="en-US"/>
              <a:t>边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树上</a:t>
            </a:r>
            <a:r>
              <a:rPr lang="en-US" altLang="zh-CN">
                <a:sym typeface="+mn-ea"/>
              </a:rPr>
              <a:t>dp</a:t>
            </a:r>
            <a:r>
              <a:rPr lang="zh-CN" altLang="en-US">
                <a:sym typeface="+mn-ea"/>
              </a:rPr>
              <a:t>和换根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主要思想在于</a:t>
            </a:r>
            <a:r>
              <a:rPr lang="zh-CN" altLang="en-US"/>
              <a:t>回退。</a:t>
            </a:r>
            <a:endParaRPr lang="zh-CN" altLang="en-US"/>
          </a:p>
          <a:p>
            <a:r>
              <a:rPr lang="zh-CN" altLang="en-US"/>
              <a:t>简洁的回退方式是加速做题的</a:t>
            </a:r>
            <a:r>
              <a:rPr lang="zh-CN" altLang="en-US"/>
              <a:t>关键</a:t>
            </a:r>
            <a:endParaRPr lang="zh-CN" altLang="en-US"/>
          </a:p>
          <a:p>
            <a:r>
              <a:rPr lang="en-US" altLang="zh-CN"/>
              <a:t>P3478 [POI2008] STA-Station</a:t>
            </a:r>
            <a:endParaRPr lang="en-US" altLang="zh-CN"/>
          </a:p>
          <a:p>
            <a:r>
              <a:rPr lang="zh-CN" altLang="en-US"/>
              <a:t>给定一棵</a:t>
            </a:r>
            <a:r>
              <a:rPr lang="en-US" altLang="en-US"/>
              <a:t> </a:t>
            </a:r>
            <a:r>
              <a:rPr lang="en-US" altLang="zh-CN"/>
              <a:t>n</a:t>
            </a:r>
            <a:r>
              <a:rPr lang="en-US" altLang="en-US"/>
              <a:t> </a:t>
            </a:r>
            <a:r>
              <a:rPr lang="zh-CN" altLang="en-US"/>
              <a:t>个节点的树，找出一个节点</a:t>
            </a:r>
            <a:r>
              <a:rPr lang="en-US" altLang="en-US"/>
              <a:t> </a:t>
            </a:r>
            <a:r>
              <a:rPr lang="en-US" altLang="zh-CN"/>
              <a:t>x</a:t>
            </a:r>
            <a:r>
              <a:rPr lang="zh-CN" altLang="en-US"/>
              <a:t>，使得以</a:t>
            </a:r>
            <a:r>
              <a:rPr lang="en-US" altLang="en-US"/>
              <a:t> </a:t>
            </a:r>
            <a:r>
              <a:rPr lang="en-US" altLang="zh-CN"/>
              <a:t>x</a:t>
            </a:r>
            <a:r>
              <a:rPr lang="en-US" altLang="en-US"/>
              <a:t> </a:t>
            </a:r>
            <a:r>
              <a:rPr lang="zh-CN" altLang="en-US"/>
              <a:t>为根时，所有节点的深度之和最大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P3478 [POI2008] STA-Station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662430"/>
            <a:ext cx="10968990" cy="27444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基环树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P4381 [IOI2008] Island</a:t>
            </a:r>
            <a:endParaRPr lang="en-US" altLang="zh-CN"/>
          </a:p>
          <a:p>
            <a:r>
              <a:rPr lang="zh-CN" altLang="en-US"/>
              <a:t>给定一个基环树森林（每个连通块是一个基环树），求所有基环树的直径之和。基环树的直径定义为树上任意两点间的最长路径。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P4381 [IOI2008] Island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基环树的分解</a:t>
            </a:r>
            <a:endParaRPr lang="zh-CN" altLang="en-US"/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第一次</a:t>
            </a:r>
            <a:r>
              <a:rPr lang="en-US" altLang="zh-CN">
                <a:sym typeface="+mn-ea"/>
              </a:rPr>
              <a:t> DFS</a:t>
            </a:r>
            <a:r>
              <a:rPr lang="zh-CN" altLang="en-US">
                <a:sym typeface="+mn-ea"/>
              </a:rPr>
              <a:t>（预处理子树信息）</a:t>
            </a:r>
            <a:endParaRPr lang="zh-CN" altLang="en-US"/>
          </a:p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第二次</a:t>
            </a:r>
            <a:r>
              <a:rPr lang="en-US" altLang="zh-CN">
                <a:sym typeface="+mn-ea"/>
              </a:rPr>
              <a:t> DFS</a:t>
            </a:r>
            <a:r>
              <a:rPr lang="zh-CN" altLang="en-US">
                <a:sym typeface="+mn-ea"/>
              </a:rPr>
              <a:t>（换根处理环上贡献）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环上路径的优化：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预处理环上节点的前缀距离数组</a:t>
            </a:r>
            <a:r>
              <a:rPr lang="en-US" altLang="zh-CN"/>
              <a:t> dist</a:t>
            </a:r>
            <a:r>
              <a:rPr lang="zh-CN" altLang="en-US"/>
              <a:t>，将问题转化为在双倍链上寻找满足条件的</a:t>
            </a:r>
            <a:r>
              <a:rPr lang="en-US" altLang="zh-CN"/>
              <a:t> i </a:t>
            </a:r>
            <a:r>
              <a:rPr lang="zh-CN" altLang="en-US"/>
              <a:t>和</a:t>
            </a:r>
            <a:r>
              <a:rPr lang="en-US" altLang="zh-CN"/>
              <a:t> j</a:t>
            </a:r>
            <a:r>
              <a:rPr lang="zh-CN" altLang="en-US"/>
              <a:t>，使得</a:t>
            </a:r>
            <a:r>
              <a:rPr lang="en-US" altLang="zh-CN"/>
              <a:t> i &lt; j </a:t>
            </a:r>
            <a:r>
              <a:rPr lang="zh-CN" altLang="en-US"/>
              <a:t>且</a:t>
            </a:r>
            <a:r>
              <a:rPr lang="en-US" altLang="zh-CN"/>
              <a:t> j - i &lt;= m</a:t>
            </a:r>
            <a:r>
              <a:rPr lang="zh-CN" altLang="en-US"/>
              <a:t>。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使用单调队列维护</a:t>
            </a:r>
            <a:r>
              <a:rPr lang="en-US" altLang="zh-CN"/>
              <a:t> maxdis[Q[i]] - dist[i] </a:t>
            </a:r>
            <a:r>
              <a:rPr lang="zh-CN" altLang="en-US"/>
              <a:t>的最大值，快速计算当前</a:t>
            </a:r>
            <a:r>
              <a:rPr lang="en-US" altLang="zh-CN"/>
              <a:t> j </a:t>
            </a:r>
            <a:r>
              <a:rPr lang="zh-CN" altLang="en-US"/>
              <a:t>的最优</a:t>
            </a:r>
            <a:r>
              <a:rPr lang="en-US" altLang="zh-CN"/>
              <a:t> i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生成树问题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重构树</a:t>
            </a:r>
            <a:r>
              <a:rPr lang="zh-CN" altLang="en-US"/>
              <a:t>入门</a:t>
            </a:r>
            <a:endParaRPr lang="zh-CN" altLang="en-US"/>
          </a:p>
          <a:p>
            <a:r>
              <a:rPr lang="zh-CN" altLang="en-US"/>
              <a:t>洛谷</a:t>
            </a:r>
            <a:r>
              <a:rPr lang="en-US" altLang="zh-CN"/>
              <a:t> P2245 </a:t>
            </a:r>
            <a:r>
              <a:rPr lang="zh-CN" altLang="en-US"/>
              <a:t>星际导航</a:t>
            </a:r>
            <a:endParaRPr lang="zh-CN" altLang="en-US"/>
          </a:p>
          <a:p>
            <a:r>
              <a:rPr lang="zh-CN" altLang="en-US"/>
              <a:t>题目描述</a:t>
            </a:r>
            <a:endParaRPr lang="zh-CN" altLang="en-US"/>
          </a:p>
          <a:p>
            <a:r>
              <a:rPr lang="zh-CN" altLang="en-US"/>
              <a:t>有</a:t>
            </a:r>
            <a:r>
              <a:rPr lang="en-US" altLang="zh-CN"/>
              <a:t> n </a:t>
            </a:r>
            <a:r>
              <a:rPr lang="zh-CN" altLang="en-US"/>
              <a:t>个星球和</a:t>
            </a:r>
            <a:r>
              <a:rPr lang="en-US" altLang="zh-CN"/>
              <a:t> m </a:t>
            </a:r>
            <a:r>
              <a:rPr lang="zh-CN" altLang="en-US"/>
              <a:t>条双向太空通道，每条通道有危险系数。给定</a:t>
            </a:r>
            <a:r>
              <a:rPr lang="en-US" altLang="zh-CN"/>
              <a:t> q </a:t>
            </a:r>
            <a:r>
              <a:rPr lang="zh-CN" altLang="en-US"/>
              <a:t>次询问，每次询问从星球</a:t>
            </a:r>
            <a:r>
              <a:rPr lang="en-US" altLang="zh-CN"/>
              <a:t> a </a:t>
            </a:r>
            <a:r>
              <a:rPr lang="zh-CN" altLang="en-US"/>
              <a:t>到星球</a:t>
            </a:r>
            <a:r>
              <a:rPr lang="en-US" altLang="zh-CN"/>
              <a:t> b </a:t>
            </a:r>
            <a:r>
              <a:rPr lang="zh-CN" altLang="en-US"/>
              <a:t>的所有路径中，危险系数最大的通道的最小可能值是多少。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洛谷</a:t>
            </a:r>
            <a:r>
              <a:rPr lang="en-US" altLang="zh-CN">
                <a:sym typeface="+mn-ea"/>
              </a:rPr>
              <a:t> P2245 </a:t>
            </a:r>
            <a:r>
              <a:rPr lang="zh-CN" altLang="en-US">
                <a:sym typeface="+mn-ea"/>
              </a:rPr>
              <a:t>星际导航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本题可通过构建最大生成树的</a:t>
            </a:r>
            <a:r>
              <a:rPr lang="en-US" altLang="zh-CN"/>
              <a:t> Kruskal </a:t>
            </a:r>
            <a:r>
              <a:rPr lang="zh-CN" altLang="en-US"/>
              <a:t>重构树解决：</a:t>
            </a:r>
            <a:endParaRPr lang="zh-CN" altLang="en-US"/>
          </a:p>
          <a:p>
            <a:r>
              <a:rPr lang="en-US" altLang="zh-CN"/>
              <a:t>Kruskal </a:t>
            </a:r>
            <a:r>
              <a:rPr lang="zh-CN" altLang="en-US"/>
              <a:t>重构树：将边按危险系数从小到大排序，每次合并两个连通块时创建新节点，节点权值为当前边的危险系数。新节点作为两个连通块的父节点。</a:t>
            </a:r>
            <a:endParaRPr lang="zh-CN" altLang="en-US"/>
          </a:p>
          <a:p>
            <a:r>
              <a:rPr lang="zh-CN" altLang="en-US"/>
              <a:t>查询：两点间路径上的最大危险系数即为重构树中它们的最近公共祖先</a:t>
            </a:r>
            <a:r>
              <a:rPr lang="en-US" altLang="zh-CN"/>
              <a:t> (LCA) </a:t>
            </a:r>
            <a:r>
              <a:rPr lang="zh-CN" altLang="en-US"/>
              <a:t>的权值。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重构树</a:t>
            </a:r>
            <a:r>
              <a:rPr lang="zh-CN" altLang="en-US"/>
              <a:t>进阶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AtCoder Regular Contest 098 F Donation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85" y="2237740"/>
            <a:ext cx="10506075" cy="14763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AtCoder Regular Contest 098 F Donation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思维</a:t>
            </a:r>
            <a:r>
              <a:rPr lang="zh-CN" altLang="en-US"/>
              <a:t>关键点：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倒着</a:t>
            </a:r>
            <a:r>
              <a:rPr lang="zh-CN" altLang="en-US"/>
              <a:t>做。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将图转为</a:t>
            </a:r>
            <a:r>
              <a:rPr lang="zh-CN" altLang="en-US"/>
              <a:t>重构树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树上的</a:t>
            </a:r>
            <a:r>
              <a:rPr lang="en-US" altLang="zh-CN"/>
              <a:t>dp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uoj176</a:t>
            </a:r>
            <a:r>
              <a:rPr lang="zh-CN" altLang="en-US"/>
              <a:t>新年的繁荣</a:t>
            </a:r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10665"/>
            <a:ext cx="10968990" cy="177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uoj176</a:t>
            </a:r>
            <a:r>
              <a:rPr lang="zh-CN" altLang="en-US">
                <a:sym typeface="+mn-ea"/>
              </a:rPr>
              <a:t>新年的繁荣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boruvka</a:t>
            </a:r>
            <a:r>
              <a:rPr lang="zh-CN" altLang="en-US"/>
              <a:t>算法</a:t>
            </a:r>
            <a:endParaRPr lang="zh-CN" altLang="en-US"/>
          </a:p>
          <a:p>
            <a:r>
              <a:rPr lang="zh-CN" altLang="en-US"/>
              <a:t>关键点</a:t>
            </a:r>
            <a:r>
              <a:rPr lang="en-US" altLang="zh-CN"/>
              <a:t>:</a:t>
            </a:r>
            <a:r>
              <a:rPr lang="zh-CN" altLang="en-US"/>
              <a:t>合并次数少，每次处理的</a:t>
            </a:r>
            <a:r>
              <a:rPr lang="zh-CN" altLang="en-US"/>
              <a:t>信息多。</a:t>
            </a:r>
            <a:endParaRPr lang="zh-CN" altLang="en-US"/>
          </a:p>
          <a:p>
            <a:r>
              <a:rPr lang="zh-CN" altLang="en-US"/>
              <a:t>本题：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字典树。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注意不能是本联通块的，两种处理方法：</a:t>
            </a:r>
            <a:r>
              <a:rPr lang="en-US" altLang="zh-CN"/>
              <a:t>1)</a:t>
            </a:r>
            <a:r>
              <a:rPr lang="zh-CN" altLang="en-US"/>
              <a:t>删除（不优美好想）</a:t>
            </a:r>
            <a:r>
              <a:rPr lang="en-US" altLang="zh-CN"/>
              <a:t>2)</a:t>
            </a:r>
            <a:r>
              <a:rPr lang="zh-CN" altLang="en-US"/>
              <a:t>记联通块编号的最大</a:t>
            </a:r>
            <a:r>
              <a:rPr lang="zh-CN" altLang="en-US"/>
              <a:t>最小值。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树上权值维护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树上差分</a:t>
            </a:r>
            <a:r>
              <a:rPr lang="en-US" altLang="zh-CN"/>
              <a:t>-&gt;</a:t>
            </a:r>
            <a:r>
              <a:rPr lang="zh-CN" altLang="en-US"/>
              <a:t>离线，基础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树链剖分</a:t>
            </a:r>
            <a:r>
              <a:rPr lang="en-US" altLang="zh-CN"/>
              <a:t>-&gt;</a:t>
            </a:r>
            <a:r>
              <a:rPr lang="zh-CN" altLang="en-US"/>
              <a:t>链的</a:t>
            </a:r>
            <a:r>
              <a:rPr lang="zh-CN" altLang="en-US"/>
              <a:t>处理</a:t>
            </a:r>
            <a:endParaRPr lang="zh-CN" altLang="en-US"/>
          </a:p>
          <a:p>
            <a:r>
              <a:rPr lang="en-US" altLang="zh-CN"/>
              <a:t>3.dfn</a:t>
            </a:r>
            <a:r>
              <a:rPr lang="zh-CN" altLang="en-US"/>
              <a:t>序</a:t>
            </a:r>
            <a:r>
              <a:rPr lang="en-US" altLang="zh-CN"/>
              <a:t>-&gt;</a:t>
            </a:r>
            <a:r>
              <a:rPr lang="zh-CN" altLang="en-US"/>
              <a:t>子树整体</a:t>
            </a:r>
            <a:r>
              <a:rPr lang="zh-CN" altLang="en-US"/>
              <a:t>处理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离线处理</a:t>
            </a:r>
            <a:r>
              <a:rPr lang="en-US" altLang="zh-CN"/>
              <a:t>-&gt;</a:t>
            </a:r>
            <a:r>
              <a:rPr lang="zh-CN" altLang="en-US"/>
              <a:t>祖先后代关系</a:t>
            </a:r>
            <a:endParaRPr lang="zh-CN" altLang="en-US"/>
          </a:p>
          <a:p>
            <a:r>
              <a:rPr lang="en-US" altLang="zh-CN"/>
              <a:t>5.lct-&gt;</a:t>
            </a:r>
            <a:r>
              <a:rPr lang="zh-CN" altLang="en-US"/>
              <a:t>简单权值运算，复杂树上</a:t>
            </a:r>
            <a:r>
              <a:rPr lang="zh-CN" altLang="en-US"/>
              <a:t>条件，</a:t>
            </a:r>
            <a:endParaRPr lang="zh-CN" altLang="en-US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luoguP4556</a:t>
            </a:r>
            <a:endParaRPr lang="en-US" altLang="zh-CN"/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10334625" cy="21526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luoguP4556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树上</a:t>
            </a:r>
            <a:r>
              <a:rPr lang="zh-CN" altLang="en-US"/>
              <a:t>差分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线段树</a:t>
            </a:r>
            <a:r>
              <a:rPr lang="zh-CN" altLang="en-US"/>
              <a:t>合并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洛谷</a:t>
            </a:r>
            <a:r>
              <a:rPr lang="en-US" altLang="zh-CN"/>
              <a:t> P7735 (NOI2021) </a:t>
            </a:r>
            <a:r>
              <a:rPr lang="zh-CN" altLang="en-US"/>
              <a:t>轻重边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83360"/>
            <a:ext cx="7286625" cy="3324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洛谷</a:t>
            </a:r>
            <a:r>
              <a:rPr lang="en-US" altLang="zh-CN">
                <a:sym typeface="+mn-ea"/>
              </a:rPr>
              <a:t> P7735 (NOI2021) </a:t>
            </a:r>
            <a:r>
              <a:rPr lang="zh-CN" altLang="en-US">
                <a:sym typeface="+mn-ea"/>
              </a:rPr>
              <a:t>轻重边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染色法转化：</a:t>
            </a:r>
            <a:endParaRPr lang="zh-CN" altLang="en-US"/>
          </a:p>
          <a:p>
            <a:r>
              <a:rPr lang="zh-CN" altLang="en-US"/>
              <a:t>将边的状态（轻</a:t>
            </a:r>
            <a:r>
              <a:rPr lang="en-US" altLang="zh-CN"/>
              <a:t> / </a:t>
            </a:r>
            <a:r>
              <a:rPr lang="zh-CN" altLang="en-US"/>
              <a:t>重）转化为点的颜色。若两个相邻节点颜色相同，则它们之间的边为重边；否则为轻边。</a:t>
            </a:r>
            <a:endParaRPr lang="zh-CN" altLang="en-US"/>
          </a:p>
          <a:p>
            <a:r>
              <a:rPr lang="zh-CN" altLang="en-US"/>
              <a:t>每次操作</a:t>
            </a:r>
            <a:r>
              <a:rPr lang="en-US" altLang="zh-CN"/>
              <a:t> 1 </a:t>
            </a:r>
            <a:r>
              <a:rPr lang="zh-CN" altLang="en-US"/>
              <a:t>将路径上的所有点染成同一颜色（如时间戳），确保路径上的边变为重边，且路径外的边被覆盖为轻边。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树链剖分：</a:t>
            </a:r>
            <a:endParaRPr lang="zh-CN" altLang="en-US"/>
          </a:p>
          <a:p>
            <a:r>
              <a:rPr lang="zh-CN" altLang="en-US"/>
              <a:t>将树分解为若干条重链，每条重链的</a:t>
            </a:r>
            <a:r>
              <a:rPr lang="en-US" altLang="zh-CN"/>
              <a:t> DFS </a:t>
            </a:r>
            <a:r>
              <a:rPr lang="zh-CN" altLang="en-US"/>
              <a:t>序连续。路径操作可拆分为对若干条重链的区间操作。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线段树维护：</a:t>
            </a:r>
            <a:endParaRPr lang="zh-CN" altLang="en-US"/>
          </a:p>
          <a:p>
            <a:r>
              <a:rPr lang="zh-CN" altLang="en-US"/>
              <a:t>维护每个节点的颜色，并支持区间覆盖和区间查询相邻颜色相同的点对数量。</a:t>
            </a:r>
            <a:endParaRPr lang="zh-CN" altLang="en-US"/>
          </a:p>
          <a:p>
            <a:r>
              <a:rPr lang="zh-CN" altLang="en-US"/>
              <a:t>查询时，统计路径上相邻同色点对的数量，即为重边数。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洛谷</a:t>
            </a:r>
            <a:r>
              <a:rPr lang="en-US" altLang="zh-CN"/>
              <a:t> P3787 </a:t>
            </a:r>
            <a:r>
              <a:rPr lang="zh-CN" altLang="en-US"/>
              <a:t>冰精冻西瓜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10968990" cy="28594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洛谷</a:t>
            </a:r>
            <a:r>
              <a:rPr lang="en-US" altLang="zh-CN">
                <a:sym typeface="+mn-ea"/>
              </a:rPr>
              <a:t> P3787 </a:t>
            </a:r>
            <a:r>
              <a:rPr lang="zh-CN" altLang="en-US">
                <a:sym typeface="+mn-ea"/>
              </a:rPr>
              <a:t>冰精冻西瓜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1.dfn</a:t>
            </a:r>
            <a:r>
              <a:rPr lang="zh-CN" altLang="en-US"/>
              <a:t>序处理</a:t>
            </a:r>
            <a:r>
              <a:rPr lang="zh-CN" altLang="en-US"/>
              <a:t>子树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前缀积处理放大</a:t>
            </a:r>
            <a:r>
              <a:rPr lang="zh-CN" altLang="en-US"/>
              <a:t>缩小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特殊情况，</a:t>
            </a:r>
            <a:r>
              <a:rPr lang="en-US" altLang="zh-CN"/>
              <a:t>0</a:t>
            </a:r>
            <a:r>
              <a:rPr lang="zh-CN" altLang="en-US"/>
              <a:t>视为</a:t>
            </a:r>
            <a:r>
              <a:rPr lang="zh-CN" altLang="en-US"/>
              <a:t>新根。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一个</a:t>
            </a:r>
            <a:r>
              <a:rPr lang="zh-CN" altLang="en-US"/>
              <a:t>例题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一棵树，每个点有一个权值，求每个点到根路径上比它大的</a:t>
            </a:r>
            <a:r>
              <a:rPr lang="zh-CN" altLang="en-US"/>
              <a:t>权值。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0880" y="2067560"/>
            <a:ext cx="10546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考虑把整棵树离线下来，动态维护到根路径上的点，塞到树状数组里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虚树</a:t>
            </a:r>
            <a:r>
              <a:rPr lang="zh-CN" altLang="en-US"/>
              <a:t>简述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两类虚树处理的</a:t>
            </a:r>
            <a:r>
              <a:rPr lang="zh-CN" altLang="en-US"/>
              <a:t>问题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最显然的：多次询问，询问点数和</a:t>
            </a:r>
            <a:r>
              <a:rPr lang="zh-CN" altLang="en-US"/>
              <a:t>不大。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藏起来的：如染色后每种颜色分别处理，如质因数分解后的分别处理，双树问题点分治之后在另一棵树上，</a:t>
            </a:r>
            <a:r>
              <a:rPr lang="zh-CN" altLang="en-US"/>
              <a:t>如非树边的</a:t>
            </a:r>
            <a:r>
              <a:rPr lang="zh-CN" altLang="en-US"/>
              <a:t>处理。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D220903D</a:t>
            </a:r>
            <a:r>
              <a:rPr lang="zh-CN" altLang="en-US"/>
              <a:t>异常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9140" y="1313815"/>
            <a:ext cx="10706100" cy="18573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D220903D</a:t>
            </a:r>
            <a:r>
              <a:rPr lang="zh-CN" altLang="en-US">
                <a:sym typeface="+mn-ea"/>
              </a:rPr>
              <a:t>异常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虚树的讨论</a:t>
            </a:r>
            <a:r>
              <a:rPr lang="zh-CN" altLang="en-US"/>
              <a:t>题</a:t>
            </a:r>
            <a:endParaRPr lang="zh-CN" altLang="en-US"/>
          </a:p>
          <a:p>
            <a:r>
              <a:rPr lang="zh-CN" altLang="en-US"/>
              <a:t>注意几个点就全是</a:t>
            </a:r>
            <a:r>
              <a:rPr lang="zh-CN" altLang="en-US"/>
              <a:t>实现的问题</a:t>
            </a:r>
            <a:r>
              <a:rPr lang="zh-CN" altLang="en-US"/>
              <a:t>了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虚树上的结点不一定是着火</a:t>
            </a:r>
            <a:r>
              <a:rPr lang="zh-CN" altLang="en-US"/>
              <a:t>点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虚树边上的点挂的有</a:t>
            </a:r>
            <a:r>
              <a:rPr lang="zh-CN" altLang="en-US"/>
              <a:t>子树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虚树结点上的子树讨论时要去掉边所含的</a:t>
            </a:r>
            <a:r>
              <a:rPr lang="zh-CN" altLang="en-US"/>
              <a:t>子树。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P4426 [HNOI/AHOI2018] </a:t>
            </a:r>
            <a:r>
              <a:rPr lang="zh-CN" altLang="en-US"/>
              <a:t>毒瘤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79550"/>
            <a:ext cx="10968990" cy="1191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P4426 [HNOI/AHOI2018] </a:t>
            </a:r>
            <a:r>
              <a:rPr lang="zh-CN" altLang="en-US"/>
              <a:t>毒瘤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46860"/>
            <a:ext cx="10968990" cy="35617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CF809E Surprise me!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10968990" cy="21831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CF809E Surprise me!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81680" y="1393825"/>
            <a:ext cx="4686300" cy="952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0" y="2346325"/>
            <a:ext cx="10591800" cy="1276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15" y="3429000"/>
            <a:ext cx="10687050" cy="1200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715" y="4655185"/>
            <a:ext cx="10506075" cy="111442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CF809E Surprise me!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建虚树</a:t>
            </a:r>
            <a:r>
              <a:rPr lang="zh-CN" altLang="en-US"/>
              <a:t>后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树上统计每条边的</a:t>
            </a:r>
            <a:r>
              <a:rPr lang="zh-CN" altLang="en-US"/>
              <a:t>贡献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" y="2277110"/>
            <a:ext cx="10563225" cy="12382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P3085 [USACO13OPEN] Yin and Yang 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给出一棵</a:t>
            </a:r>
            <a:r>
              <a:rPr lang="en-US" altLang="zh-CN"/>
              <a:t>n</a:t>
            </a:r>
            <a:r>
              <a:rPr lang="zh-CN" altLang="en-US"/>
              <a:t>个点的树，每条边为黑色或白色。问满足以下条件的路径条数：路径上存在一个不是端点的点，使得两端点到该点的路径上两种颜色的边数都相等。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P3085 [USACO13OPEN] Yin and Yang G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10677525" cy="36290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6765" y="4973955"/>
            <a:ext cx="10295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点分治的写法推荐</a:t>
            </a:r>
            <a:endParaRPr lang="zh-CN" altLang="en-US"/>
          </a:p>
          <a:p>
            <a:r>
              <a:rPr lang="zh-CN" altLang="en-US"/>
              <a:t>不断加入子树，而非扣相同子树内的</a:t>
            </a:r>
            <a:r>
              <a:rPr lang="zh-CN" altLang="en-US"/>
              <a:t>点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洛谷</a:t>
            </a:r>
            <a:r>
              <a:rPr lang="en-US" altLang="zh-CN"/>
              <a:t> P3345 [ZJOI2015] </a:t>
            </a:r>
            <a:r>
              <a:rPr lang="zh-CN" altLang="en-US"/>
              <a:t>幻想乡战略游戏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2079625"/>
            <a:ext cx="10968990" cy="16916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1705" y="4241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每个点的度数小于</a:t>
            </a:r>
            <a:r>
              <a:rPr lang="en-US" altLang="zh-CN"/>
              <a:t>20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洛谷</a:t>
            </a:r>
            <a:r>
              <a:rPr lang="en-US" altLang="zh-CN">
                <a:sym typeface="+mn-ea"/>
              </a:rPr>
              <a:t> P3345 [ZJOI2015] </a:t>
            </a:r>
            <a:r>
              <a:rPr lang="zh-CN" altLang="en-US">
                <a:sym typeface="+mn-ea"/>
              </a:rPr>
              <a:t>幻想乡战略游戏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如何用点分治求</a:t>
            </a:r>
            <a:r>
              <a:rPr lang="zh-CN" altLang="en-US"/>
              <a:t>重心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建</a:t>
            </a:r>
            <a:r>
              <a:rPr lang="zh-CN" altLang="en-US"/>
              <a:t>点分树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在点分</a:t>
            </a:r>
            <a:r>
              <a:rPr lang="zh-CN" altLang="en-US"/>
              <a:t>树上动态</a:t>
            </a:r>
            <a:r>
              <a:rPr lang="zh-CN" altLang="en-US"/>
              <a:t>修改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CF914E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2794000"/>
            <a:ext cx="10968990" cy="9029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CF914E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点分治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串奇偶性记录，等价于压缩后的数</a:t>
            </a:r>
            <a:r>
              <a:rPr lang="zh-CN" altLang="en-US"/>
              <a:t>相同。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每个点求，正着倒着求两</a:t>
            </a:r>
            <a:r>
              <a:rPr lang="zh-CN" altLang="en-US"/>
              <a:t>遍。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Gym101234 D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2632710"/>
            <a:ext cx="10968990" cy="629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Gym101234 D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615440"/>
            <a:ext cx="10125075" cy="33051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树的</a:t>
            </a:r>
            <a:r>
              <a:rPr lang="zh-CN" altLang="en-US"/>
              <a:t>计数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313815"/>
            <a:ext cx="527621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树的</a:t>
            </a:r>
            <a:r>
              <a:rPr lang="zh-CN" altLang="en-US"/>
              <a:t>计数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03045"/>
            <a:ext cx="10968990" cy="47326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树的</a:t>
            </a:r>
            <a:r>
              <a:rPr lang="zh-CN" altLang="en-US"/>
              <a:t>计数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661160"/>
            <a:ext cx="10968990" cy="44170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树的</a:t>
            </a:r>
            <a:r>
              <a:rPr lang="zh-CN" altLang="en-US"/>
              <a:t>计数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cf156</a:t>
            </a:r>
            <a:r>
              <a:rPr lang="en-US" altLang="zh-CN"/>
              <a:t>d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892300"/>
            <a:ext cx="10704195" cy="1314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2525</Words>
  <Application>WPS 演示</Application>
  <PresentationFormat>宽屏</PresentationFormat>
  <Paragraphs>225</Paragraphs>
  <Slides>43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宋体</vt:lpstr>
      <vt:lpstr>Wingdings</vt:lpstr>
      <vt:lpstr>Wingdings</vt:lpstr>
      <vt:lpstr>-apple-system</vt:lpstr>
      <vt:lpstr>Segoe Print</vt:lpstr>
      <vt:lpstr>微软雅黑</vt:lpstr>
      <vt:lpstr>Arial Unicode MS</vt:lpstr>
      <vt:lpstr>Calibri</vt:lpstr>
      <vt:lpstr>WPS</vt:lpstr>
      <vt:lpstr>树上问题</vt:lpstr>
      <vt:lpstr>目录</vt:lpstr>
      <vt:lpstr>再谈最近公共祖先</vt:lpstr>
      <vt:lpstr>换根和lca</vt:lpstr>
      <vt:lpstr>P6374 「StOI-1」树上询问</vt:lpstr>
      <vt:lpstr>树上dp和换根</vt:lpstr>
      <vt:lpstr>P3478 [POI2008] STA-Station</vt:lpstr>
      <vt:lpstr>基环树</vt:lpstr>
      <vt:lpstr>P4381 [IOI2008] Island</vt:lpstr>
      <vt:lpstr>生成树问题</vt:lpstr>
      <vt:lpstr>洛谷 P2245 星际导航</vt:lpstr>
      <vt:lpstr>重构树进阶</vt:lpstr>
      <vt:lpstr>AtCoder Regular Contest 098 F Donation</vt:lpstr>
      <vt:lpstr>uoj176新年的繁荣</vt:lpstr>
      <vt:lpstr>uoj176新年的繁荣</vt:lpstr>
      <vt:lpstr>树上权值维护</vt:lpstr>
      <vt:lpstr>luoguP4556</vt:lpstr>
      <vt:lpstr>luoguP4556</vt:lpstr>
      <vt:lpstr>洛谷 P7735 (NOI2021) 轻重边</vt:lpstr>
      <vt:lpstr>洛谷 P7735 (NOI2021) 轻重边</vt:lpstr>
      <vt:lpstr>洛谷 P3787 冰精冻西瓜</vt:lpstr>
      <vt:lpstr>洛谷 P3787 冰精冻西瓜</vt:lpstr>
      <vt:lpstr>一个例题</vt:lpstr>
      <vt:lpstr>虚树简述</vt:lpstr>
      <vt:lpstr>D220903D异常</vt:lpstr>
      <vt:lpstr>D220903D异常</vt:lpstr>
      <vt:lpstr>P4426 [HNOI/AHOI2018] 毒瘤</vt:lpstr>
      <vt:lpstr>P4426 [HNOI/AHOI2018] 毒瘤</vt:lpstr>
      <vt:lpstr>CF809E Surprise me!</vt:lpstr>
      <vt:lpstr>CF809E Surprise me!</vt:lpstr>
      <vt:lpstr>CF809E Surprise me!</vt:lpstr>
      <vt:lpstr>P3085 [USACO13OPEN] Yin and Yang G</vt:lpstr>
      <vt:lpstr>P3085 [USACO13OPEN] Yin and Yang 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树的计数</vt:lpstr>
      <vt:lpstr>树的计数</vt:lpstr>
      <vt:lpstr>树的计数</vt:lpstr>
      <vt:lpstr>树的计数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大头鱼</cp:lastModifiedBy>
  <cp:revision>222</cp:revision>
  <dcterms:created xsi:type="dcterms:W3CDTF">2019-06-19T02:08:00Z</dcterms:created>
  <dcterms:modified xsi:type="dcterms:W3CDTF">2025-07-18T04:52:42Z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0806B2494995446386F7EDCCE031A26B_11</vt:lpwstr>
  </property>
</Properties>
</file>